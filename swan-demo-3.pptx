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95"/>
    <p:restoredTop autoAdjust="0" sz="92160"/>
  </p:normalViewPr>
  <p:slideViewPr>
    <p:cSldViewPr snapToGrid="0">
      <p:cViewPr varScale="1">
        <p:scale>
          <a:sx d="100" n="71"/>
          <a:sy d="100" n="71"/>
        </p:scale>
        <p:origin x="624" y="60"/>
      </p:cViewPr>
      <p:guideLst>
        <p:guide pos="3840"/>
        <p:guide orient="horz" pos="2160"/>
      </p:guideLst>
    </p:cSldViewPr>
  </p:slideViewPr>
  <p:notesTextViewPr>
    <p:cViewPr>
      <p:scale>
        <a:sx d="1" n="1"/>
        <a:sy d="1" n="1"/>
      </p:scale>
      <p:origin x="0" y="0"/>
    </p:cViewPr>
  </p:notesTextViewPr>
  <p:notesViewPr>
    <p:cSldViewPr snapToGrid="0">
      <p:cViewPr varScale="1">
        <p:scale>
          <a:sx d="100" n="63"/>
          <a:sy d="100" n="63"/>
        </p:scale>
        <p:origin x="2838" y="108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Relationship Id="rId1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9" Type="http://schemas.openxmlformats.org/officeDocument/2006/relationships/presProps" Target="presProps.xml" /><Relationship Id="rId8" Type="http://schemas.openxmlformats.org/officeDocument/2006/relationships/handoutMaster" Target="handoutMasters/handoutMaster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4572000"/>
            <a:ext cx="12192000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740333"/>
            <a:ext cx="10972800" cy="1263534"/>
          </a:xfrm>
        </p:spPr>
        <p:txBody>
          <a:bodyPr anchor="ctr">
            <a:normAutofit/>
          </a:bodyPr>
          <a:lstStyle>
            <a:lvl1pPr algn="l">
              <a:defRPr sz="5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210300"/>
            <a:ext cx="12192000" cy="0"/>
          </a:xfrm>
          <a:prstGeom prst="line">
            <a:avLst/>
          </a:prstGeom>
          <a:ln w="76200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6286500"/>
            <a:ext cx="10972800" cy="45720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9" name="Picture 8" descr="Closeup of test tube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" y="0"/>
            <a:ext cx="12188952" cy="45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64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9F40-B079-4B71-A627-7266DFEA7F03}" type="slidenum">
              <a:rPr/>
              <a:t>‹#›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902D-A5F5-4D7D-AAA7-32469BA0BC4D}" type="datetimeFigureOut">
              <a:rPr lang="en-US"/>
              <a:t>9/9/2016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308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92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53095"/>
            <a:ext cx="10972800" cy="2286000"/>
          </a:xfrm>
        </p:spPr>
        <p:txBody>
          <a:bodyPr anchor="b">
            <a:normAutofit/>
          </a:bodyPr>
          <a:lstStyle>
            <a:lvl1pPr>
              <a:defRPr sz="58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5753100"/>
            <a:ext cx="12192000" cy="0"/>
          </a:xfrm>
          <a:prstGeom prst="line">
            <a:avLst/>
          </a:prstGeom>
          <a:ln w="76200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250" y="5864054"/>
            <a:ext cx="10972800" cy="45004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724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714501"/>
            <a:ext cx="4752109" cy="44577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3091" y="1714501"/>
            <a:ext cx="4752109" cy="44577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9F40-B079-4B71-A627-7266DFEA7F03}" type="slidenum">
              <a:rPr/>
              <a:t>‹#›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902D-A5F5-4D7D-AAA7-32469BA0BC4D}" type="datetimeFigureOut">
              <a:rPr lang="en-US"/>
              <a:t>9/9/2016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238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529541"/>
            <a:ext cx="4754880" cy="811583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484692"/>
            <a:ext cx="4754880" cy="3687508"/>
          </a:xfrm>
        </p:spPr>
        <p:txBody>
          <a:bodyPr/>
          <a:lstStyle>
            <a:lvl1pPr>
              <a:spcBef>
                <a:spcPts val="2000"/>
              </a:spcBef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0320" y="1529541"/>
            <a:ext cx="4754880" cy="811583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0320" y="2484692"/>
            <a:ext cx="4754880" cy="3687508"/>
          </a:xfrm>
        </p:spPr>
        <p:txBody>
          <a:bodyPr/>
          <a:lstStyle>
            <a:lvl1pPr>
              <a:spcBef>
                <a:spcPts val="2000"/>
              </a:spcBef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9F40-B079-4B71-A627-7266DFEA7F03}" type="slidenum">
              <a:rPr/>
              <a:t>‹#›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902D-A5F5-4D7D-AAA7-32469BA0BC4D}" type="datetimeFigureOut">
              <a:rPr lang="en-US"/>
              <a:t>9/9/2016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062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9F40-B079-4B71-A627-7266DFEA7F03}" type="slidenum">
              <a:rPr/>
              <a:t>‹#›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902D-A5F5-4D7D-AAA7-32469BA0BC4D}" type="datetimeFigureOut">
              <a:rPr lang="en-US"/>
              <a:t>9/9/2016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594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9F40-B079-4B71-A627-7266DFEA7F03}" type="slidenum">
              <a:rPr/>
              <a:t>‹#›</a:t>
            </a:fld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902D-A5F5-4D7D-AAA7-32469BA0BC4D}" type="datetimeFigureOut">
              <a:rPr lang="en-US"/>
              <a:t>9/9/2016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633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 bwMode="ltGray">
          <a:xfrm>
            <a:off x="0" y="0"/>
            <a:ext cx="4267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4267200" y="0"/>
            <a:ext cx="1" cy="6858000"/>
          </a:xfrm>
          <a:prstGeom prst="line">
            <a:avLst/>
          </a:prstGeom>
          <a:ln w="76200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19" y="465512"/>
            <a:ext cx="3506162" cy="1600200"/>
          </a:xfrm>
        </p:spPr>
        <p:txBody>
          <a:bodyPr anchor="t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0519" y="3746500"/>
            <a:ext cx="3506162" cy="24257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00" y="465513"/>
            <a:ext cx="7048500" cy="5935287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0201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2688">
          <p15:clr>
            <a:srgbClr val="FBAE40"/>
          </p15:clr>
        </p15:guide>
        <p15:guide id="2" orient="horz" pos="288">
          <p15:clr>
            <a:srgbClr val="FBAE40"/>
          </p15:clr>
        </p15:guide>
        <p15:guide id="3" orient="horz" pos="4032">
          <p15:clr>
            <a:srgbClr val="FBAE40"/>
          </p15:clr>
        </p15:guide>
        <p15:guide id="4" pos="29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267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4267200" y="0"/>
            <a:ext cx="1" cy="6858000"/>
          </a:xfrm>
          <a:prstGeom prst="line">
            <a:avLst/>
          </a:prstGeom>
          <a:ln w="76200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466344"/>
            <a:ext cx="3502152" cy="1600200"/>
          </a:xfrm>
        </p:spPr>
        <p:txBody>
          <a:bodyPr anchor="t"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4048" y="3749040"/>
            <a:ext cx="3502152" cy="242316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309872" y="0"/>
            <a:ext cx="7882128" cy="6858000"/>
          </a:xfrm>
        </p:spPr>
        <p:txBody>
          <a:bodyPr tIns="7315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4938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9F40-B079-4B71-A627-7266DFEA7F03}" type="slidenum">
              <a:rPr/>
              <a:t>‹#›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902D-A5F5-4D7D-AAA7-32469BA0BC4D}" type="datetimeFigureOut">
              <a:rPr lang="en-US"/>
              <a:t>9/9/2016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155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9310254" y="0"/>
            <a:ext cx="288174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310254" y="0"/>
            <a:ext cx="1" cy="6858000"/>
          </a:xfrm>
          <a:prstGeom prst="line">
            <a:avLst/>
          </a:prstGeom>
          <a:ln w="76200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86900" y="685800"/>
            <a:ext cx="2324100" cy="54863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685800"/>
            <a:ext cx="8105775" cy="54863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9F40-B079-4B71-A627-7266DFEA7F03}" type="slidenum">
              <a:rPr/>
              <a:t>‹#›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2902D-A5F5-4D7D-AAA7-32469BA0BC4D}" type="datetimeFigureOut">
              <a:rPr lang="en-US"/>
              <a:t>9/9/2016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64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920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6800" y="127000"/>
            <a:ext cx="10058400" cy="109728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  <a:endParaRPr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371600"/>
            <a:ext cx="12192000" cy="0"/>
          </a:xfrm>
          <a:prstGeom prst="line">
            <a:avLst/>
          </a:prstGeom>
          <a:ln w="76200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066800" y="1714500"/>
            <a:ext cx="10058400" cy="445770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5724" y="6394450"/>
            <a:ext cx="523875" cy="27432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F4C9F40-B079-4B71-A627-7266DFEA7F03}" type="slidenum">
              <a:rPr/>
              <a:pPr/>
              <a:t>‹#›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809625" y="6394450"/>
            <a:ext cx="8134350" cy="27432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9486900" y="6394450"/>
            <a:ext cx="2324100" cy="27432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402902D-A5F5-4D7D-AAA7-32469BA0BC4D}" type="datetimeFigureOut">
              <a:rPr lang="en-US"/>
              <a:pPr/>
              <a:t>9/9/2016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5958476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74320" latinLnBrk="0" marL="274320" rtl="0">
        <a:spcBef>
          <a:spcPts val="2200"/>
        </a:spcBef>
        <a:buClr>
          <a:schemeClr val="tx1">
            <a:lumMod val="65000"/>
          </a:schemeClr>
        </a:buClr>
        <a:buFont charset="0" pitchFamily="34" typeface="Arial"/>
        <a:buChar char="•"/>
        <a:defRPr kern="1200" sz="2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74320" latinLnBrk="0" marL="594360" rtl="0">
        <a:spcBef>
          <a:spcPts val="1600"/>
        </a:spcBef>
        <a:buClr>
          <a:schemeClr val="tx1">
            <a:lumMod val="65000"/>
          </a:schemeClr>
        </a:buClr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868680" rtl="0">
        <a:spcBef>
          <a:spcPts val="1200"/>
        </a:spcBef>
        <a:buClr>
          <a:schemeClr val="tx1">
            <a:lumMod val="65000"/>
          </a:schemeClr>
        </a:buClr>
        <a:buFont charset="0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188720" rtl="0">
        <a:spcBef>
          <a:spcPts val="1000"/>
        </a:spcBef>
        <a:buClr>
          <a:schemeClr val="tx1">
            <a:lumMod val="65000"/>
          </a:schemeClr>
        </a:buClr>
        <a:buFont charset="0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417320" rtl="0">
        <a:spcBef>
          <a:spcPts val="800"/>
        </a:spcBef>
        <a:buClr>
          <a:schemeClr val="tx1">
            <a:lumMod val="65000"/>
          </a:schemeClr>
        </a:buClr>
        <a:buFont charset="0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645920" rtl="0">
        <a:spcBef>
          <a:spcPts val="600"/>
        </a:spcBef>
        <a:buClr>
          <a:schemeClr val="tx1">
            <a:lumMod val="65000"/>
          </a:schemeClr>
        </a:buClr>
        <a:buFont charset="0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874520" rtl="0">
        <a:spcBef>
          <a:spcPts val="600"/>
        </a:spcBef>
        <a:buClr>
          <a:schemeClr val="tx1">
            <a:lumMod val="65000"/>
          </a:schemeClr>
        </a:buClr>
        <a:buFont charset="0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2103120" rtl="0">
        <a:spcBef>
          <a:spcPts val="600"/>
        </a:spcBef>
        <a:buClr>
          <a:schemeClr val="tx1">
            <a:lumMod val="65000"/>
          </a:schemeClr>
        </a:buClr>
        <a:buFont charset="0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2331720" rtl="0">
        <a:spcBef>
          <a:spcPts val="600"/>
        </a:spcBef>
        <a:buClr>
          <a:schemeClr val="tx1">
            <a:lumMod val="65000"/>
          </a:schemeClr>
        </a:buClr>
        <a:buFont charset="0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740333"/>
            <a:ext cx="10972800" cy="1263534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Gormsey Trihalomethane Compliance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609600" y="6286500"/>
            <a:ext cx="10972800" cy="45720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Dr Peter Prevos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New guideline lowers the maximum value for THMs at the customer tap to 0.20 mg/l.</a:t>
            </a:r>
          </a:p>
          <a:p>
            <a:pPr lvl="0"/>
            <a:r>
              <a:rPr/>
              <a:t>This report reviews historical data to assess the risk of non-compliance.</a:t>
            </a:r>
          </a:p>
          <a:p>
            <a:pPr lvl="0"/>
            <a:r>
              <a:rPr/>
              <a:t>Assumes no operational changes are implemented.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Monthly samples are taken from customer taps in each town.</a:t>
            </a:r>
          </a:p>
          <a:p>
            <a:pPr lvl="0"/>
            <a:r>
              <a:rPr/>
              <a:t>Data avalable between 2069-01-11 and 2070-12-17.</a:t>
            </a:r>
          </a:p>
          <a:p>
            <a:pPr lvl="0"/>
            <a:r>
              <a:rPr/>
              <a:t>Fields:</a:t>
            </a:r>
          </a:p>
          <a:p>
            <a:pPr lvl="1"/>
            <a:r>
              <a:rPr>
                <a:latin typeface="Courier"/>
              </a:rPr>
              <a:t>Sample_No</a:t>
            </a:r>
            <a:r>
              <a:rPr/>
              <a:t>: Number of the sample</a:t>
            </a:r>
          </a:p>
          <a:p>
            <a:pPr lvl="1"/>
            <a:r>
              <a:rPr>
                <a:latin typeface="Courier"/>
              </a:rPr>
              <a:t>Date</a:t>
            </a:r>
            <a:r>
              <a:rPr/>
              <a:t>: Date the sample was taken</a:t>
            </a:r>
          </a:p>
          <a:p>
            <a:pPr lvl="1"/>
            <a:r>
              <a:rPr>
                <a:latin typeface="Courier"/>
              </a:rPr>
              <a:t>Sample_Point</a:t>
            </a:r>
            <a:r>
              <a:rPr/>
              <a:t>: Sample point asset number</a:t>
            </a:r>
          </a:p>
          <a:p>
            <a:pPr lvl="1"/>
            <a:r>
              <a:rPr>
                <a:latin typeface="Courier"/>
              </a:rPr>
              <a:t>Town</a:t>
            </a:r>
            <a:r>
              <a:rPr/>
              <a:t>: Town</a:t>
            </a:r>
          </a:p>
          <a:p>
            <a:pPr lvl="1"/>
            <a:r>
              <a:rPr>
                <a:latin typeface="Courier"/>
              </a:rPr>
              <a:t>Result</a:t>
            </a:r>
            <a:r>
              <a:rPr/>
              <a:t>: Test result</a:t>
            </a:r>
          </a:p>
        </p:txBody>
      </p:sp>
      <p:pic>
        <p:nvPicPr>
          <p:cNvPr descr="fig:  https://www.tucsonaz.gov/files/water/img/IMG_3292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416800" y="1714500"/>
            <a:ext cx="2628900" cy="394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6362700" y="5664200"/>
            <a:ext cx="47498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Sample tap.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Exploratory Analysis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66800" y="1714500"/>
          <a:ext cx="10058400" cy="39497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029200"/>
                <a:gridCol w="5029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Suburb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Samples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Blancathey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Merton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Snake’s Canyon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Southwold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Swadlincote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Tarnstead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Wakefield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/>
        </p:nvSpPr>
        <p:spPr>
          <a:xfrm>
            <a:off x="1066800" y="5664200"/>
            <a:ext cx="10058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Summary sample numbers.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Analysis</a:t>
            </a:r>
          </a:p>
        </p:txBody>
      </p:sp>
      <p:pic>
        <p:nvPicPr>
          <p:cNvPr descr="swan-demo-3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14700" y="1714500"/>
            <a:ext cx="5575300" cy="445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5 samples exceeded the proposed new limit in</a:t>
            </a:r>
          </a:p>
          <a:p>
            <a:pPr lvl="0"/>
            <a:r>
              <a:rPr/>
              <a:t>Further investigation required to determine the cause.</a:t>
            </a:r>
          </a:p>
        </p:txBody>
      </p:sp>
    </p:spTree>
  </p:cSld>
</p:sld>
</file>

<file path=ppt/theme/theme1.xml><?xml version="1.0" encoding="utf-8"?>
<a:theme xmlns:a="http://schemas.openxmlformats.org/drawingml/2006/main" name="Science Project 16x9">
  <a:themeElements>
    <a:clrScheme name="AcademicScience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060.potx" id="{B0D06C54-B873-49D2-AD73-EE9BB8599BFF}" vid="{334807F6-B3E0-4323-AC38-BDC7A606DAA1}"/>
    </a:ext>
  </a:extLst>
</a:theme>
</file>

<file path=ppt/theme/theme2.xml><?xml version="1.0" encoding="utf-8"?>
<a:theme xmlns:a="http://schemas.openxmlformats.org/drawingml/2006/main" name="Office Theme">
  <a:themeElements>
    <a:clrScheme name="AcademicScience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cademicScience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230</Words>
  <PresentationFormat>Widescreen</PresentationFormat>
  <Paragraphs>62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Science Project 16x9</vt:lpstr>
      <vt:lpstr>Science Project Title</vt:lpstr>
      <vt:lpstr>Add your question here</vt:lpstr>
      <vt:lpstr>Project Overview</vt:lpstr>
      <vt:lpstr>Research</vt:lpstr>
      <vt:lpstr>Variables</vt:lpstr>
      <vt:lpstr>Add your answer / solution here</vt:lpstr>
      <vt:lpstr>Materials</vt:lpstr>
      <vt:lpstr>Procedure</vt:lpstr>
      <vt:lpstr>Data/Observations</vt:lpstr>
      <vt:lpstr>Conclusion</vt:lpstr>
      <vt:lpstr>Works Cited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Gormsey Trihalomethane Compliance</dc:title>
  <dc:creator>Dr Peter Prevos</dc:creator>
  <cp:keywords/>
  <dcterms:created xsi:type="dcterms:W3CDTF">2022-05-24T09:47:29Z</dcterms:created>
  <dcterms:modified xsi:type="dcterms:W3CDTF">2022-05-24T09:47:29Z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</Properties>
</file>